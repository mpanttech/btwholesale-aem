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200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Segoe UI"/>
              </a:rPr>
              <a:t>BT Wholesale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DDBBFF"/>
                </a:solidFill>
                <a:latin typeface="Segoe UI"/>
              </a:rPr>
              <a:t>AEM Headless Content Fragment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AAFF"/>
                </a:solidFill>
                <a:latin typeface="Segoe UI"/>
              </a:rPr>
              <a:t>Technical Design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91840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99EE"/>
                </a:solidFill>
                <a:latin typeface="Segoe UI"/>
              </a:rPr>
              <a:t>AEM SDK 2026.5  ·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126480"/>
            <a:ext cx="2194560" cy="38404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16305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200A3"/>
                </a:solidFill>
                <a:latin typeface="Segoe UI"/>
              </a:rPr>
              <a:t>AEM as a Cloud 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6126480"/>
            <a:ext cx="2194560" cy="38404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616305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200A3"/>
                </a:solidFill>
                <a:latin typeface="Segoe UI"/>
              </a:rPr>
              <a:t>GraphQL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6126480"/>
            <a:ext cx="2194560" cy="38404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616305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200A3"/>
                </a:solidFill>
                <a:latin typeface="Segoe UI"/>
              </a:rPr>
              <a:t>Headless CMS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6126480"/>
            <a:ext cx="2194560" cy="38404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616305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200A3"/>
                </a:solidFill>
                <a:latin typeface="Segoe UI"/>
              </a:rPr>
              <a:t>Content Fragments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486400" cy="1051560"/>
          </a:xfrm>
          <a:prstGeom prst="rect">
            <a:avLst/>
          </a:prstGeom>
          <a:solidFill>
            <a:srgbClr val="F4F0FB"/>
          </a:solidFill>
          <a:ln w="1905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200A3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618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Segoe UI"/>
              </a:rPr>
              <a:t>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  <a:latin typeface="Segoe UI"/>
              </a:rPr>
              <a:t>Headless CMS pattern, system components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188720"/>
            <a:ext cx="5486400" cy="1051560"/>
          </a:xfrm>
          <a:prstGeom prst="rect">
            <a:avLst/>
          </a:prstGeom>
          <a:solidFill>
            <a:srgbClr val="F4F0FB"/>
          </a:solidFill>
          <a:ln w="1905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61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200A3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2618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Segoe UI"/>
              </a:rPr>
              <a:t>CF Model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645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  <a:latin typeface="Segoe UI"/>
              </a:rPr>
              <a:t>Structure, field types, model inventory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23160"/>
            <a:ext cx="5486400" cy="1051560"/>
          </a:xfrm>
          <a:prstGeom prst="rect">
            <a:avLst/>
          </a:prstGeom>
          <a:solidFill>
            <a:srgbClr val="F4F0FB"/>
          </a:solidFill>
          <a:ln w="1905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96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200A3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Segoe UI"/>
              </a:rPr>
              <a:t>CF Data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803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  <a:latin typeface="Segoe UI"/>
              </a:rPr>
              <a:t>Fragment nodes, field conventions, inventory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423160"/>
            <a:ext cx="5486400" cy="1051560"/>
          </a:xfrm>
          <a:prstGeom prst="rect">
            <a:avLst/>
          </a:prstGeom>
          <a:solidFill>
            <a:srgbClr val="F4F0FB"/>
          </a:solidFill>
          <a:ln w="1905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496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200A3"/>
                </a:solidFill>
                <a:latin typeface="Segoe U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4963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Segoe UI"/>
              </a:rPr>
              <a:t>Headless API — GraphQL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8803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  <a:latin typeface="Segoe UI"/>
              </a:rPr>
              <a:t>Endpoint, schema, queries, persisted queries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5486400" cy="1051560"/>
          </a:xfrm>
          <a:prstGeom prst="rect">
            <a:avLst/>
          </a:prstGeom>
          <a:solidFill>
            <a:srgbClr val="F4F0FB"/>
          </a:solidFill>
          <a:ln w="1905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30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200A3"/>
                </a:solidFill>
                <a:latin typeface="Segoe U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307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Segoe UI"/>
              </a:rPr>
              <a:t>Other Headless 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  <a:latin typeface="Segoe UI"/>
              </a:rPr>
              <a:t>Content Services, Assets HTTP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3657600"/>
            <a:ext cx="5486400" cy="1051560"/>
          </a:xfrm>
          <a:prstGeom prst="rect">
            <a:avLst/>
          </a:prstGeom>
          <a:solidFill>
            <a:srgbClr val="F4F0FB"/>
          </a:solidFill>
          <a:ln w="1905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730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200A3"/>
                </a:solidFill>
                <a:latin typeface="Segoe U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7307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Segoe UI"/>
              </a:rPr>
              <a:t>Frontend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  <a:latin typeface="Segoe UI"/>
              </a:rPr>
              <a:t>Next.js pattern, ISR caching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92040"/>
            <a:ext cx="5486400" cy="1051560"/>
          </a:xfrm>
          <a:prstGeom prst="rect">
            <a:avLst/>
          </a:prstGeom>
          <a:solidFill>
            <a:srgbClr val="F4F0FB"/>
          </a:solidFill>
          <a:ln w="1905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200A3"/>
                </a:solidFill>
                <a:latin typeface="Segoe U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965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Segoe UI"/>
              </a:rPr>
              <a:t>Deployment &amp;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349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  <a:latin typeface="Segoe UI"/>
              </a:rPr>
              <a:t>Maven commands, FileVault filters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4892040"/>
            <a:ext cx="5486400" cy="1051560"/>
          </a:xfrm>
          <a:prstGeom prst="rect">
            <a:avLst/>
          </a:prstGeom>
          <a:solidFill>
            <a:srgbClr val="F4F0FB"/>
          </a:solidFill>
          <a:ln w="1905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4965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200A3"/>
                </a:solidFill>
                <a:latin typeface="Segoe UI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965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Segoe UI"/>
              </a:rPr>
              <a:t>Design 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349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  <a:latin typeface="Segoe UI"/>
              </a:rPr>
              <a:t>Constraints, known issues, rationale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BBFF"/>
                </a:solidFill>
                <a:latin typeface="Segoe UI"/>
              </a:rPr>
              <a:t>AEM as a Headless CMS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566160" cy="411480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AEM Author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3291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CF Model Editor
Content Fragment Editor
/conf/btwholesale
/content/dam/btwholesale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3566160" cy="41148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25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GraphQL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920240"/>
            <a:ext cx="3291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Auto-generated schema
from CF models
/content/_cq_graphql/
global/endpoint.json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188720"/>
            <a:ext cx="3566160" cy="4114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325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Decoupled Frontend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1920240"/>
            <a:ext cx="3291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05740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Next.js / React / Vue
or any HTTP client
HTTP POST / GET
JSON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Segoe UI"/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Segoe UI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440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66"/>
                </a:solidFill>
                <a:latin typeface="Segoe UI"/>
              </a:rPr>
              <a:t>Defines schema + stores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440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66"/>
                </a:solidFill>
                <a:latin typeface="Segoe UI"/>
              </a:rPr>
              <a:t>Auto-generates typed GraphQL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440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66"/>
                </a:solidFill>
                <a:latin typeface="Segoe UI"/>
              </a:rPr>
              <a:t>Queries &amp; renders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66"/>
                </a:solidFill>
                <a:latin typeface="Segoe UI"/>
              </a:rPr>
              <a:t>AEM is a pure content repository — the frontend owns all layout and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Content Fragment 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66"/>
                </a:solidFill>
                <a:latin typeface="Segoe UI"/>
              </a:rPr>
              <a:t>All 10 models live flat under  /conf/btwholesale/settings/dam/cfm/models/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737360" cy="384048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499616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417320"/>
            <a:ext cx="3657600" cy="384048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76272" y="1499616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Key Fields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01368"/>
            <a:ext cx="1737360" cy="384048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874520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page-meta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801368"/>
            <a:ext cx="3657600" cy="384048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76272" y="1874520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title, 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85416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258568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page-hero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185416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76272" y="2258568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breadcrumb, breadcrumbHref, heading*, subheading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69464"/>
            <a:ext cx="1737360" cy="384048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642616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icon-card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2569464"/>
            <a:ext cx="3657600" cy="384048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76272" y="2642616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id, icon, heading*, description, highlight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53512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026664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nav-category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2953512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76272" y="3026664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id, icon, heading*, description, linkLabel, linkHref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37560"/>
            <a:ext cx="1737360" cy="384048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3410712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link-item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337560"/>
            <a:ext cx="3657600" cy="384048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76272" y="3410712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label, href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21608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3794760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contact-card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3721608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76272" y="3794760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id, icon, heading*, description, label, href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105656"/>
            <a:ext cx="1737360" cy="384048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4178808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portal-item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03120" y="4105656"/>
            <a:ext cx="3657600" cy="384048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76272" y="4178808"/>
            <a:ext cx="3511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id, icon, heading*, description, label, href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200A3"/>
                </a:solidFill>
                <a:latin typeface="Segoe UI"/>
              </a:rPr>
              <a:t>Page Models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1828800"/>
            <a:ext cx="5486400" cy="1325880"/>
          </a:xfrm>
          <a:prstGeom prst="rect">
            <a:avLst/>
          </a:prstGeom>
          <a:solidFill>
            <a:srgbClr val="F4F0FB"/>
          </a:solidFill>
          <a:ln w="1905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19202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200A3"/>
                </a:solidFill>
                <a:latin typeface="Segoe UI"/>
              </a:rPr>
              <a:t>become-a-customer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22860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meta→PageMeta, hero→PageHero
benefits[]→IconCard, products[]→NavCategory
whyBT[]→IconCard, applyCta→LinkItem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291840"/>
            <a:ext cx="5486400" cy="1325880"/>
          </a:xfrm>
          <a:prstGeom prst="rect">
            <a:avLst/>
          </a:prstGeom>
          <a:solidFill>
            <a:srgbClr val="F4F0FB"/>
          </a:solidFill>
          <a:ln w="1905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383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200A3"/>
                </a:solidFill>
                <a:latin typeface="Segoe UI"/>
              </a:rPr>
              <a:t>help-content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7490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meta→PageMeta, hero→PageHero
categories[]→NavCategory, contactCards[]→ContactCard
viewAllContacts→LinkItem, portals[]→PortalItem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4754880"/>
            <a:ext cx="5486400" cy="1325880"/>
          </a:xfrm>
          <a:prstGeom prst="rect">
            <a:avLst/>
          </a:prstGeom>
          <a:solidFill>
            <a:srgbClr val="F4F0FB"/>
          </a:solidFill>
          <a:ln w="1905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8463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200A3"/>
                </a:solidFill>
                <a:latin typeface="Segoe UI"/>
              </a:rPr>
              <a:t>site-content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2120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meta→PageMeta, utilityLinks[]→LinkItem
navLinks[]→LinkItem, authLinks[]→LinkItem
productCards[]→IconCard, footerLegalLinks[]→LinkItem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263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66"/>
                </a:solidFill>
                <a:latin typeface="Segoe UI"/>
              </a:rPr>
              <a:t>* = required field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Content Fragment Data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685800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583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DD6F4"/>
                </a:solidFill>
                <a:latin typeface="Consolas"/>
              </a:rPr>
              <a:t>&lt;jcr:root jcr:primaryType="dam:Asset"&gt;
  &lt;jcr:content
      cq:name="page"
      jcr:primaryType="dam:AssetContent"
      contentFragment="{Boolean}true"&gt;
    &lt;data
        cq:model="/conf/btwholesale/settings/dam/cfm/models/page-hero"
        jcr:primaryType="nt:unstructured"&gt;
      &lt;master
          jcr:mixinTypes="[cq:Taggable,dam:cfVariationNode]"
          jcr:primaryType="nt:unstructured"
          heading="Become a BT Wholesale customer"
          heading_x0040_LastModified="{Date}2024-01-01T00:00:00.000-08:00"
          subheading="&lt;p&gt;Join the UK's largest network...&lt;/p&gt;"
          subheading_x0040_LastModified="{Date}2024-01-01T00:00:00.000-08:00"/&gt;
    &lt;/data&gt;
    &lt;metadata jcr:mixinTypes="[cq:Taggable]" jcr:primaryType="nt:unstructured"/&gt;
    &lt;related jcr:primaryType="nt:unstructured"/&gt;
  &lt;/jcr:content&gt;
&lt;/jcr:root&gt;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097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200A3"/>
                </a:solidFill>
                <a:latin typeface="Segoe UI"/>
              </a:rPr>
              <a:t>Key 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600200"/>
            <a:ext cx="4480560" cy="74980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65506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200A3"/>
                </a:solidFill>
                <a:latin typeface="Segoe UI"/>
              </a:rPr>
              <a:t>cq:model on data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9476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Not on jcr:content — AEM 2026.x reads from data/@cq:model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2404872"/>
            <a:ext cx="4480560" cy="74980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45973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200A3"/>
                </a:solidFill>
                <a:latin typeface="Segoe UI"/>
              </a:rPr>
              <a:t>dam:cfVariationNode mixin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75234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Required on master node for GraphQL schema generation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3209544"/>
            <a:ext cx="4480560" cy="74980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326440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200A3"/>
                </a:solidFill>
                <a:latin typeface="Segoe UI"/>
              </a:rPr>
              <a:t>_x0040_LastModified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55701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Timestamp after every field (_x0040_ = URL-encoded @)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014216"/>
            <a:ext cx="4480560" cy="74980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40690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200A3"/>
                </a:solidFill>
                <a:latin typeface="Segoe UI"/>
              </a:rPr>
              <a:t>&lt;related/&gt; node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36168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Must exist — AEM CF editor writes it on first save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4818888"/>
            <a:ext cx="4480560" cy="74980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48737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200A3"/>
                </a:solidFill>
                <a:latin typeface="Segoe UI"/>
              </a:rPr>
              <a:t>No mix:versionable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166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Protected JCR property — causes import failure with mode=merge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5623560"/>
            <a:ext cx="4480560" cy="74980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567842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200A3"/>
                </a:solidFill>
                <a:latin typeface="Segoe UI"/>
              </a:rPr>
              <a:t>Field name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9710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Model name attribute = JCR property name. Mismatch → null in GraphQL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Exposing Content — Three Headless APIs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3749039" cy="54864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GraphQL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45920"/>
            <a:ext cx="3749039" cy="347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DD6F4"/>
                </a:solidFill>
                <a:latin typeface="Segoe UI"/>
              </a:rPr>
              <a:t>/content/_cq_graphql/global/endpoint.json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11680"/>
            <a:ext cx="3749039" cy="2834640"/>
          </a:xfrm>
          <a:prstGeom prst="rect">
            <a:avLst/>
          </a:prstGeom>
          <a:solidFill>
            <a:srgbClr val="F4F0FB"/>
          </a:solidFill>
          <a:ln w="1905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84832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Auto-generated typed schema from CF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15184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Single request for nested fragment 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45536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Filter, paginate, sort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75888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Persisted queries → CDN-cacheable 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Rich text returns { html / plaintext / markdown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864608"/>
            <a:ext cx="3749039" cy="347472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910328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Best for: frontend page rendering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097280"/>
            <a:ext cx="3749039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170432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Content Services
(.model.json)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645920"/>
            <a:ext cx="3749039" cy="347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69164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DD6F4"/>
                </a:solidFill>
                <a:latin typeface="Segoe UI"/>
              </a:rPr>
              <a:t>/content/btwholesale/us/en/home.model.json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011680"/>
            <a:ext cx="3749039" cy="2834640"/>
          </a:xfrm>
          <a:prstGeom prst="rect">
            <a:avLst/>
          </a:prstGeom>
          <a:solidFill>
            <a:srgbClr val="F4F0FB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084832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JSON export of AEM page component 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615184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Works with AEM Sites page hierarchy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145536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Suitable when content is in page components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675888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Experience Fragments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20624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No schema — reflects component structure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4864608"/>
            <a:ext cx="3749039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910328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Best for: AEM Sites + SPA Editor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1097280"/>
            <a:ext cx="3749039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170432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Assets HTTP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1645920"/>
            <a:ext cx="3749039" cy="347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169164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DD6F4"/>
                </a:solidFill>
                <a:latin typeface="Segoe UI"/>
              </a:rPr>
              <a:t>/api/assets/btwholesale/content-fragments/...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2011680"/>
            <a:ext cx="3749039" cy="2834640"/>
          </a:xfrm>
          <a:prstGeom prst="rect">
            <a:avLst/>
          </a:prstGeom>
          <a:solidFill>
            <a:srgbClr val="F4F0FB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084832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Full CRUD on DAM assets and fragments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615184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GET / POST / PUT / DELETE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145536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Returns full dam:Asset metadata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675888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No schema filtering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20624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▸  Suitable for migration / CI scripts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80" y="4864608"/>
            <a:ext cx="3749039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910328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Best for: programmatic CF CRUD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GraphQL API — Schema &amp;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200A3"/>
                </a:solidFill>
                <a:latin typeface="Segoe UI"/>
              </a:rPr>
              <a:t>Auto-Generated Type Names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920240" cy="329184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4813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CF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2194560" cy="329184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59152" y="148132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GraphQL 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46504"/>
            <a:ext cx="1920240" cy="329184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8013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200A3"/>
                </a:solidFill>
                <a:latin typeface="Segoe UI"/>
              </a:rPr>
              <a:t>page-meta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746504"/>
            <a:ext cx="2194560" cy="329184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18013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PageMetaModel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75688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13055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200A3"/>
                </a:solidFill>
                <a:latin typeface="Segoe UI"/>
              </a:rPr>
              <a:t>page-hero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075688"/>
            <a:ext cx="2194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9152" y="21305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PageHeroModel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04872"/>
            <a:ext cx="1920240" cy="329184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4597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200A3"/>
                </a:solidFill>
                <a:latin typeface="Segoe UI"/>
              </a:rPr>
              <a:t>icon-card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404872"/>
            <a:ext cx="2194560" cy="329184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9152" y="24597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IconCardModel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34056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78892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200A3"/>
                </a:solidFill>
                <a:latin typeface="Segoe UI"/>
              </a:rPr>
              <a:t>nav-category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734056"/>
            <a:ext cx="2194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59152" y="27889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NavCategoryModel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063240"/>
            <a:ext cx="1920240" cy="329184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311810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200A3"/>
                </a:solidFill>
                <a:latin typeface="Segoe UI"/>
              </a:rPr>
              <a:t>link-item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3063240"/>
            <a:ext cx="2194560" cy="329184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9152" y="31181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LinkItemModel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92424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34472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200A3"/>
                </a:solidFill>
                <a:latin typeface="Segoe UI"/>
              </a:rPr>
              <a:t>contact-card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3392424"/>
            <a:ext cx="2194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9152" y="34472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ContactCardModel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21608"/>
            <a:ext cx="1920240" cy="329184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37764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200A3"/>
                </a:solidFill>
                <a:latin typeface="Segoe UI"/>
              </a:rPr>
              <a:t>portal-item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3721608"/>
            <a:ext cx="2194560" cy="329184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9152" y="37764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PortalItemModel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050792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410565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200A3"/>
                </a:solidFill>
                <a:latin typeface="Segoe UI"/>
              </a:rPr>
              <a:t>become-a-customer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4050792"/>
            <a:ext cx="2194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59152" y="41056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BecomeACustomerModel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379976"/>
            <a:ext cx="1920240" cy="329184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44348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200A3"/>
                </a:solidFill>
                <a:latin typeface="Segoe UI"/>
              </a:rPr>
              <a:t>help-content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" y="4379976"/>
            <a:ext cx="2194560" cy="329184"/>
          </a:xfrm>
          <a:prstGeom prst="rect">
            <a:avLst/>
          </a:prstGeom>
          <a:solidFill>
            <a:srgbClr val="F4F0FB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59152" y="44348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HelpContentModel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709160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47640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200A3"/>
                </a:solidFill>
                <a:latin typeface="Segoe UI"/>
              </a:rPr>
              <a:t>site-content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4709160"/>
            <a:ext cx="2194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D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59152" y="47640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SiteContentModel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10515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200A3"/>
                </a:solidFill>
                <a:latin typeface="Segoe UI"/>
              </a:rPr>
              <a:t>Example — Become a Customer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1417320"/>
            <a:ext cx="6858000" cy="4892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1508760"/>
            <a:ext cx="658368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DD6F4"/>
                </a:solidFill>
                <a:latin typeface="Consolas"/>
              </a:rPr>
              <a:t>{
  becomeACustomerByPath(
    _path: "/content/dam/btwholesale/
             content-fragments/become-a-customer/page"
  ) {
    item {
      hero {
        ... on PageHeroModel {
          heading
          subheading { html }
        }
      }
      benefitsHeading
      benefits {
        ... on IconCardModel {
          id  icon  heading
          description { html }
        }
      }
      applyCta {
        ... on LinkItemModel { label  href }
      }
    }
  }
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Persisted Queries — Production Caching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2514600" cy="219456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1  Author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Write GraphQL query
in AEM GraphiQL
Explorer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2514600" cy="21945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2  Persist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PUT query to AEM
/graphql/persist.json
/btwholesale/...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143000"/>
            <a:ext cx="2514600" cy="2194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3  CDN 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Persisted query
served as HTTP GET
Full CDN caching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1143000"/>
            <a:ext cx="2514600" cy="2194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4 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GET /graphql/execute.json
/btwholesale/page-name
Fast, cached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Segoe UI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Segoe UI"/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Segoe UI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200A3"/>
                </a:solidFill>
                <a:latin typeface="Segoe UI"/>
              </a:rPr>
              <a:t>Why use persisted queries?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577840" cy="868680"/>
          </a:xfrm>
          <a:prstGeom prst="rect">
            <a:avLst/>
          </a:prstGeom>
          <a:solidFill>
            <a:srgbClr val="F4F0FB"/>
          </a:solidFill>
          <a:ln w="127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965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200A3"/>
                </a:solidFill>
                <a:latin typeface="Segoe UI"/>
              </a:rPr>
              <a:t>✓  CDN Cacheable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622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HTTP GET requests can be cached at the CDN edge — POST queries cannot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023360"/>
            <a:ext cx="5577840" cy="868680"/>
          </a:xfrm>
          <a:prstGeom prst="rect">
            <a:avLst/>
          </a:prstGeom>
          <a:solidFill>
            <a:srgbClr val="F4F0FB"/>
          </a:solidFill>
          <a:ln w="127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965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200A3"/>
                </a:solidFill>
                <a:latin typeface="Segoe UI"/>
              </a:rPr>
              <a:t>✓  Smaller Payload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4622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Client sends only the query name, not the full GraphQL body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5577840" cy="868680"/>
          </a:xfrm>
          <a:prstGeom prst="rect">
            <a:avLst/>
          </a:prstGeom>
          <a:solidFill>
            <a:srgbClr val="F4F0FB"/>
          </a:solidFill>
          <a:ln w="127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566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200A3"/>
                </a:solidFill>
                <a:latin typeface="Segoe UI"/>
              </a:rPr>
              <a:t>✓  Server-Side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422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Query logic lives in AEM; frontend deploys are not needed to update queries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983480"/>
            <a:ext cx="5577840" cy="868680"/>
          </a:xfrm>
          <a:prstGeom prst="rect">
            <a:avLst/>
          </a:prstGeom>
          <a:solidFill>
            <a:srgbClr val="F4F0FB"/>
          </a:solidFill>
          <a:ln w="127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50566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200A3"/>
                </a:solidFill>
                <a:latin typeface="Segoe UI"/>
              </a:rPr>
              <a:t>✓ 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422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Limits the GraphQL surface area exposed to the public internet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Frontend Integration — Next.js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5852160" cy="4663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5778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DD6F4"/>
                </a:solidFill>
                <a:latin typeface="Consolas"/>
              </a:rPr>
              <a:t>// lib/aem.ts
const ENDPOINT = process.env.AEM_GRAPHQL_ENDPOINT;
export async function aemQuery&lt;T&gt;(query: string): Promise&lt;T&gt; {
  const res = await fetch(ENDPOINT, {
    method: 'POST',
    headers: {
      'Content-Type': 'application/json',
      Authorization: `Basic ${btoa('admin:admin')}`,
    },
    body: JSON.stringify({ query }),
    next: { revalidate: 60 }, // Next.js ISR
  });
  const json = await res.json();
  if (json.errors) throw new Error(json.errors[0].message);
  return json.data as T;
}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097280"/>
            <a:ext cx="5577840" cy="4663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DD6F4"/>
                </a:solidFill>
                <a:latin typeface="Consolas"/>
              </a:rPr>
              <a:t>// app/become-a-customer/page.tsx
export default async function Page() {
  const data = await aemQuery&lt;{ ... }&gt;(QUERY);
  const page = data.becomeACustomerByPath.item;
  return (
    &lt;main&gt;
      &lt;h1&gt;{page.hero.heading}&lt;/h1&gt;
      &lt;div dangerouslySetInnerHTML={{
        __html: page.hero.subheading.html
      }} /&gt;
      &lt;section&gt;
        &lt;h2&gt;{page.benefitsHeading}&lt;/h2&gt;
        {page.benefits.map(b =&gt; (
          &lt;div key={b.id}&gt;
            &lt;span className={`icon-${b.icon}`} /&gt;
            &lt;h3&gt;{b.heading}&lt;/h3&gt;
            &lt;div dangerouslySetInnerHTML={{
              __html: b.description.html
            }} /&gt;
          &lt;/div&gt;
        ))}
      &lt;/section&gt;
    &lt;/main&gt;
  );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9436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66"/>
                </a:solidFill>
                <a:latin typeface="Segoe UI"/>
              </a:rPr>
              <a:t>Production tip: replace aemQuery() with persisted query GET for CDN caching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Inter-Fragment Reference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749039" cy="50292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52728"/>
            <a:ext cx="34747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BecomeACustomer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379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meta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9476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8379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PageMeta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51460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694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hero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79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694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PageHero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24612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009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benefits[]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410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0098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IconCard ×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97764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325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products[]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142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03250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NavCategory × 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70916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7640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whyBT[]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8737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76402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IconCard ×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44068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55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applyCta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6052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4955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LinkItem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1188720"/>
            <a:ext cx="3749039" cy="50292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1252728"/>
            <a:ext cx="34747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HelpContent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178308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18379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meta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19476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8379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PageMeta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251460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25694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hero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2679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5694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PageHero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324612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3009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categories[]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3410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30098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NavCategory × 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397764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40325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contactCards[]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4142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03250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ContactCard × 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470916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47640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viewAllContacts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48737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76402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LinkItem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544068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0" y="54955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portals[]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56052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54955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PortalItem × 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63840" y="1188720"/>
            <a:ext cx="3749039" cy="50292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01000" y="1252728"/>
            <a:ext cx="34747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SiteContent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01000" y="178308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92440" y="18379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meta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19476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0" y="18379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PageMeta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01000" y="251460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25694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utilityLinks[]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2679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6960" y="25694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LinkItem × 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324612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92440" y="33009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navLinks[]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0" y="3410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6960" y="330098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LinkItem × 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01000" y="397764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92440" y="40325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authLinks[]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0" y="4142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66960" y="403250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LinkItem × 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01000" y="470916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92440" y="47640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productCards[]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01200" y="48737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476402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IconCard × 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01000" y="5440680"/>
            <a:ext cx="3474719" cy="658368"/>
          </a:xfrm>
          <a:prstGeom prst="rect">
            <a:avLst/>
          </a:prstGeom>
          <a:solidFill>
            <a:srgbClr val="F4F0FB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92440" y="54955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footerLinks[]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01200" y="56052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Segoe UI"/>
              </a:rPr>
              <a:t>──▶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66960" y="54955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Segoe UI"/>
              </a:rPr>
              <a:t>LinkItem ×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200A3"/>
                </a:solidFill>
                <a:latin typeface="Segoe UI"/>
              </a:rPr>
              <a:t>Maven Build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44752"/>
            <a:ext cx="5577840" cy="777240"/>
          </a:xfrm>
          <a:prstGeom prst="rect">
            <a:avLst/>
          </a:prstGeom>
          <a:solidFill>
            <a:srgbClr val="F4F0FB"/>
          </a:solidFill>
          <a:ln w="127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996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  <a:latin typeface="Segoe UI"/>
              </a:rPr>
              <a:t>Build all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mvn clean install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5577840" cy="777240"/>
          </a:xfrm>
          <a:prstGeom prst="rect">
            <a:avLst/>
          </a:prstGeom>
          <a:solidFill>
            <a:srgbClr val="F4F0FB"/>
          </a:solidFill>
          <a:ln w="127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408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  <a:latin typeface="Segoe UI"/>
              </a:rPr>
              <a:t>Deploy all → local AEM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0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mvn clean install -PautoInstallSinglePackage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27248"/>
            <a:ext cx="5577840" cy="777240"/>
          </a:xfrm>
          <a:prstGeom prst="rect">
            <a:avLst/>
          </a:prstGeom>
          <a:solidFill>
            <a:srgbClr val="F4F0FB"/>
          </a:solidFill>
          <a:ln w="127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821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  <a:latin typeface="Segoe UI"/>
              </a:rPr>
              <a:t>Deploy ui.content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112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mvn -B clean install -PautoInstallPackage -pl ui.content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68496"/>
            <a:ext cx="5577840" cy="777240"/>
          </a:xfrm>
          <a:prstGeom prst="rect">
            <a:avLst/>
          </a:prstGeom>
          <a:solidFill>
            <a:srgbClr val="F4F0FB"/>
          </a:solidFill>
          <a:ln w="127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23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  <a:latin typeface="Segoe UI"/>
              </a:rPr>
              <a:t>Deploy ui.apps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525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mvn -B clean install -PautoInstallPackage -pl ui.apps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09744"/>
            <a:ext cx="5577840" cy="777240"/>
          </a:xfrm>
          <a:prstGeom prst="rect">
            <a:avLst/>
          </a:prstGeom>
          <a:solidFill>
            <a:srgbClr val="F4F0FB"/>
          </a:solidFill>
          <a:ln w="127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8646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  <a:latin typeface="Segoe UI"/>
              </a:rPr>
              <a:t>Deploy to publish (4503)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93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200A3"/>
                </a:solidFill>
                <a:latin typeface="Segoe UI"/>
              </a:rPr>
              <a:t>mvn clean install -PautoInstallSinglePackage -Daem.port=4503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200A3"/>
                </a:solidFill>
                <a:latin typeface="Segoe UI"/>
              </a:rPr>
              <a:t>FileVault Filter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44068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554480"/>
            <a:ext cx="5166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CDD6F4"/>
                </a:solidFill>
                <a:latin typeface="Consolas"/>
              </a:rPr>
              <a:t>&lt;workspaceFilter version="1.0"&gt;
  &lt;filter root="/conf/btwholesale"
          mode="merge"/&gt;
  &lt;filter
    root="/content/dam/btwholesale/
          content-fragments"
    mode="merge"/&gt;
&lt;/workspaceFilter&gt;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49039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66"/>
                </a:solidFill>
                <a:latin typeface="Segoe UI"/>
              </a:rPr>
              <a:t>mode="merge" preserves AEM nodes not in the package.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60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200A3"/>
                </a:solidFill>
                <a:latin typeface="Segoe UI"/>
              </a:rPr>
              <a:t>Deployment Order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553712"/>
            <a:ext cx="5440680" cy="713232"/>
          </a:xfrm>
          <a:prstGeom prst="rect">
            <a:avLst/>
          </a:prstGeom>
          <a:solidFill>
            <a:srgbClr val="F4F0FB"/>
          </a:solidFill>
          <a:ln w="127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6177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200A3"/>
                </a:solidFill>
                <a:latin typeface="Segoe UI"/>
              </a:rPr>
              <a:t>1  ui.apps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Registers Sling component resource types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358384"/>
            <a:ext cx="5440680" cy="713232"/>
          </a:xfrm>
          <a:prstGeom prst="rect">
            <a:avLst/>
          </a:prstGeom>
          <a:solidFill>
            <a:srgbClr val="F4F0FB"/>
          </a:solidFill>
          <a:ln w="127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422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200A3"/>
                </a:solidFill>
                <a:latin typeface="Segoe UI"/>
              </a:rPr>
              <a:t>2  ui.content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7424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Installs CF models, then CF data (FileVault orders internally)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Design Decisions &amp;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669280" cy="1645920"/>
          </a:xfrm>
          <a:prstGeom prst="rect">
            <a:avLst/>
          </a:prstGeom>
          <a:solidFill>
            <a:srgbClr val="F4F0FB"/>
          </a:solidFill>
          <a:ln w="254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669280" cy="384048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9786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Flat model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18488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AEM CF Models console only walks one level deep. Models in sub-folders (e.g. shared/) are invisible. All 10 models are kept directly under models/.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669280" cy="1645920"/>
          </a:xfrm>
          <a:prstGeom prst="rect">
            <a:avLst/>
          </a:prstGeom>
          <a:solidFill>
            <a:srgbClr val="F4F0FB"/>
          </a:solidFill>
          <a:ln w="254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669280" cy="384048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9786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sling:OrderedFolder not dam:AssetFolder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18488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AEM 2026.5 does not register dam:AssetFolder as a net-new creatable type. All CF folder nodes use sling:OrderedFolder.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80360"/>
            <a:ext cx="5669280" cy="1645920"/>
          </a:xfrm>
          <a:prstGeom prst="rect">
            <a:avLst/>
          </a:prstGeom>
          <a:solidFill>
            <a:srgbClr val="F4F0FB"/>
          </a:solidFill>
          <a:ln w="254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880360"/>
            <a:ext cx="5669280" cy="384048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3522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No mix:versionable or jcr:isCheckedOut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55848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jcr:isCheckedOut is a protected property managed by the VersionManager. Including it with mode=merge causes import failures.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880360"/>
            <a:ext cx="5669280" cy="1645920"/>
          </a:xfrm>
          <a:prstGeom prst="rect">
            <a:avLst/>
          </a:prstGeom>
          <a:solidFill>
            <a:srgbClr val="F4F0FB"/>
          </a:solidFill>
          <a:ln w="254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880360"/>
            <a:ext cx="5669280" cy="384048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93522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cq:model on data node not jcr:content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355848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AEM 2026.x reads the model reference from jcr:content/data/@cq:model. Legacy docs place it on jcr:content — this no longer works.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617720"/>
            <a:ext cx="5669280" cy="1645920"/>
          </a:xfrm>
          <a:prstGeom prst="rect">
            <a:avLst/>
          </a:prstGeom>
          <a:solidFill>
            <a:srgbClr val="F4F0FB"/>
          </a:solidFill>
          <a:ln w="254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617720"/>
            <a:ext cx="5669280" cy="384048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7258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Strict field name alignment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93208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The model field name attribute is the JCR property name written on save. No alias layer. A mismatch silently returns null in GraphQL.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617720"/>
            <a:ext cx="5669280" cy="1645920"/>
          </a:xfrm>
          <a:prstGeom prst="rect">
            <a:avLst/>
          </a:prstGeom>
          <a:solidFill>
            <a:srgbClr val="F4F0FB"/>
          </a:solidFill>
          <a:ln w="25400">
            <a:solidFill>
              <a:srgbClr val="62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617720"/>
            <a:ext cx="5669280" cy="384048"/>
          </a:xfrm>
          <a:prstGeom prst="rect">
            <a:avLst/>
          </a:prstGeom>
          <a:solidFill>
            <a:srgbClr val="620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67258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text-multi requires matching cfm-element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093208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Segoe UI"/>
              </a:rPr>
              <a:t>Rich text fields must have cfm-element = name. Without it, the multieditor cannot locate its container and the field fails to persist.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200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32004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✓  10 CF models define the full content schema for three page scopes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391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✓  All models are flat under /conf/btwholesale — visible in AEM CF Models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6090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✓  63+ content fragments authored in /content/dam/btwholesale/content-fragments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8269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✓  Fragment references create typed, traversable content graphs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0448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✓  GraphQL API auto-generates a typed schema — no custom resolvers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✓  Persisted queries enable CDN caching for production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4807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✓  Next.js ISR pattern provides sub-minute content freshness without full rebuilds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986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✓  All AEM config + content is source-controlled and deployable via Maven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AAFF"/>
                </a:solidFill>
                <a:latin typeface="Segoe UI"/>
              </a:rPr>
              <a:t>BT Wholesale — AEM Headless  ·  Technical Design Document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